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900" b="0" i="0" u="none" strike="noStrike">
                <a:solidFill>
                  <a:srgbClr val="1E293B"/>
                </a:solidFill>
                <a:latin typeface="Arial"/>
              </a:rPr>
              <a:t>Relative Operation Cost: Max-Heap vs Unsorted List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Insert</c:v>
                  </c:pt>
                  <c:pt idx="1">
                    <c:v>Extract Max</c:v>
                  </c:pt>
                  <c:pt idx="2">
                    <c:v>Build Heap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Unsorted List</c:v>
                </c:pt>
              </c:strCache>
            </c:strRef>
          </c:tx>
          <c:spPr>
            <a:solidFill>
              <a:srgbClr val="E2E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Insert</c:v>
                  </c:pt>
                  <c:pt idx="1">
                    <c:v>Extract Max</c:v>
                  </c:pt>
                  <c:pt idx="2">
                    <c:v>Build Heap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10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0" cy="8229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5087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Emergency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02920" y="2084832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 Management System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02920" y="281635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Demo Guide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3273552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2735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Max-Heap O(log n)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58568" y="3273552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58568" y="32735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14+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14216" y="3273552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14216" y="32735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Triage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385876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III Year  |  CSE  |  AITS Tirupati  |  2026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2920" y="41148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|  Python 3.9+  |  Flask 3.0  |  PostgreSQL 14+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26480" y="411480"/>
            <a:ext cx="2651760" cy="4297680"/>
          </a:xfrm>
          <a:prstGeom prst="roundRect">
            <a:avLst>
              <a:gd name="adj" fmla="val 5172"/>
            </a:avLst>
          </a:prstGeom>
          <a:solidFill>
            <a:srgbClr val="0F2D5E"/>
          </a:solidFill>
          <a:ln w="12700">
            <a:solidFill>
              <a:srgbClr val="0F2D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685800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03136" y="6492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O(log n)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6803136" y="10058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/ Extract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400800" y="1307592"/>
            <a:ext cx="2103120" cy="0"/>
          </a:xfrm>
          <a:prstGeom prst="line">
            <a:avLst/>
          </a:prstGeom>
          <a:noFill/>
          <a:ln w="6350">
            <a:solidFill>
              <a:srgbClr val="1E3A6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03136" y="174650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6803136" y="210312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400800" y="2404872"/>
            <a:ext cx="2103120" cy="0"/>
          </a:xfrm>
          <a:prstGeom prst="line">
            <a:avLst/>
          </a:prstGeom>
          <a:noFill/>
          <a:ln w="6350">
            <a:solidFill>
              <a:srgbClr val="1E3A6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880360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03136" y="284378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100ms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6803136" y="32004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Rebuild Time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400800" y="3502152"/>
            <a:ext cx="2103120" cy="0"/>
          </a:xfrm>
          <a:prstGeom prst="line">
            <a:avLst/>
          </a:prstGeom>
          <a:noFill/>
          <a:ln w="6350">
            <a:solidFill>
              <a:srgbClr val="1E3A6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6459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589520" y="274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20040" y="114300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24128" y="133502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Challenge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1828800"/>
            <a:ext cx="3611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hospital emergency rooms, patients arrive in any order — but </a:t>
            </a:r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order ≠ medical urgency.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structured priority system: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patients may wait behind minor cases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decisions are inconsistent between staff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 for clinical decisions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queue management is slow and error-prone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0" y="1143000"/>
            <a:ext cx="4251960" cy="109728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1280160"/>
            <a:ext cx="402336" cy="4023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230368" y="12344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Priority Logic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5230368" y="1527048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run on first-come first-served — a cardiac arrest patient may wait 20+ min behind routine cases.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4572000" y="2377440"/>
            <a:ext cx="4251960" cy="109728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2514600"/>
            <a:ext cx="402336" cy="40233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230368" y="246888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Not Persistent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5230368" y="2761488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restart wipes any in-memory queue. All waiting patient data is lost with no automatic recovery.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572000" y="3611880"/>
            <a:ext cx="425196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3749040"/>
            <a:ext cx="402336" cy="40233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230368" y="370332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AI-Assisted Triage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5230368" y="3995928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relies solely on manual assessment. AI could reduce decision time by ~60% and improve consistency.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6459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/ Approach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589520" y="274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20040" y="1097280"/>
            <a:ext cx="4160520" cy="1600200"/>
          </a:xfrm>
          <a:prstGeom prst="roundRect">
            <a:avLst>
              <a:gd name="adj" fmla="val 6857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84632" y="1261872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84632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243584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99032" y="123444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Max-Heap Priority Queue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21208" y="1664208"/>
            <a:ext cx="3767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max-heap ensures highest-priority patient is always at root. Insert, extract-max, and update all run in O(log n). Parents always outrank children.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36592" y="1097280"/>
            <a:ext cx="4160520" cy="1600200"/>
          </a:xfrm>
          <a:prstGeom prst="roundRect">
            <a:avLst>
              <a:gd name="adj" fmla="val 6857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01184" y="1261872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901184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24358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815584" y="123444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Dual-Write Strategy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37760" y="1664208"/>
            <a:ext cx="3767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mutation writes to PostgreSQL first (source of truth), then updates the in-memory heap (speed layer). Server restart rebuilds heap from DB in &lt; 100 ms.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20040" y="2852928"/>
            <a:ext cx="4160520" cy="1600200"/>
          </a:xfrm>
          <a:prstGeom prst="roundRect">
            <a:avLst>
              <a:gd name="adj" fmla="val 6857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4632" y="30175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84632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299923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99032" y="2990088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REST API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21208" y="3419856"/>
            <a:ext cx="3767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endpoints across 2 blueprints. Validate → write DB → update heap → audit log → return response. Global 404/405/500 error handlers.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736592" y="2852928"/>
            <a:ext cx="4160520" cy="1600200"/>
          </a:xfrm>
          <a:prstGeom prst="roundRect">
            <a:avLst>
              <a:gd name="adj" fmla="val 6857"/>
            </a:avLst>
          </a:prstGeom>
          <a:solidFill>
            <a:srgbClr val="FDF4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901184" y="30175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90118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2999232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815584" y="2990088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AI Triage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937760" y="3419856"/>
            <a:ext cx="3767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patient name, age, and condition to Gemini 2.5 Flash. Returns {priority, label, reasoning}. Doctor always has final override. Fallback: Priority 3 on any error.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6459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/ Outcomes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589520" y="274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of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20040" y="1097280"/>
            <a:ext cx="278892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320040" y="117043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O(log n)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320040" y="1691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&amp; Extract-Max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20040" y="19293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O(n) with unsorted list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64408" y="1097280"/>
            <a:ext cx="278892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64408" y="117043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/ 45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264408" y="1691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64408" y="19293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 coverage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208776" y="1097280"/>
            <a:ext cx="278892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208776" y="117043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100ms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6208776" y="1691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Rebuild from DB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08776" y="19293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any server restart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20040" y="2450592"/>
            <a:ext cx="39776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57200" y="2560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Technical Achievements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2898648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on server restart — DB rebuilds heap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Dual-write pattern: every mutation is atomic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triage with graceful fallback to P3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Wait-time aging prevents starvation every 120 min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in audit_log for every action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572000" y="2450592"/>
          <a:ext cx="42519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45 Tests Passing  |  Production-Ready  |  MIT License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353312"/>
            <a:ext cx="2788920" cy="1261872"/>
          </a:xfrm>
          <a:prstGeom prst="roundRect">
            <a:avLst>
              <a:gd name="adj" fmla="val 8696"/>
            </a:avLst>
          </a:prstGeom>
          <a:solidFill>
            <a:srgbClr val="0F2D5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49961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41832" y="14721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Max-Heap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84632" y="18745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 for insert, extract-max, and priority update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73552" y="1353312"/>
            <a:ext cx="2788920" cy="1261872"/>
          </a:xfrm>
          <a:prstGeom prst="roundRect">
            <a:avLst>
              <a:gd name="adj" fmla="val 8696"/>
            </a:avLst>
          </a:prstGeom>
          <a:solidFill>
            <a:srgbClr val="0F2D5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149961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895344" y="14721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Dual-Write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438144" y="18745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= source of truth; heap = speed layer; zero data loss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217920" y="1353312"/>
            <a:ext cx="2788920" cy="1261872"/>
          </a:xfrm>
          <a:prstGeom prst="roundRect">
            <a:avLst>
              <a:gd name="adj" fmla="val 8696"/>
            </a:avLst>
          </a:prstGeom>
          <a:solidFill>
            <a:srgbClr val="0F2D5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499616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39712" y="14721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AI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382512" y="18745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triage with fallback to P3 on any API error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320040" y="2724912"/>
            <a:ext cx="2788920" cy="1261872"/>
          </a:xfrm>
          <a:prstGeom prst="roundRect">
            <a:avLst>
              <a:gd name="adj" fmla="val 8696"/>
            </a:avLst>
          </a:prstGeom>
          <a:solidFill>
            <a:srgbClr val="0F2D5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2871216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41832" y="28437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84632" y="32461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register / admit / update / remove logged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73552" y="2724912"/>
            <a:ext cx="2788920" cy="1261872"/>
          </a:xfrm>
          <a:prstGeom prst="roundRect">
            <a:avLst>
              <a:gd name="adj" fmla="val 8696"/>
            </a:avLst>
          </a:prstGeom>
          <a:solidFill>
            <a:srgbClr val="0F2D5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44" y="2871216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95344" y="28437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Starvation Guard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3438144" y="32461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Auto-escalation every 120 min prevents low-priority wait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217920" y="2724912"/>
            <a:ext cx="2788920" cy="1261872"/>
          </a:xfrm>
          <a:prstGeom prst="roundRect">
            <a:avLst>
              <a:gd name="adj" fmla="val 8696"/>
            </a:avLst>
          </a:prstGeom>
          <a:solidFill>
            <a:srgbClr val="0F2D5E"/>
          </a:solidFill>
          <a:ln w="12700">
            <a:solidFill>
              <a:srgbClr val="1E3A6E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2871216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839712" y="28437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Tests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6382512" y="32461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Integration; full business-logic coverage via pytest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411480" y="48280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AITS Tirupati  |  B.Tech III CSE  |  2026  |  github.com/YOUR_USERNAME/hospital-queue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Emergency Queue Management System</dc:title>
  <dc:subject>PptxGenJS Presentation</dc:subject>
  <dc:creator>B.Tech III CSE, AITS Tirupati</dc:creator>
  <cp:lastModifiedBy>B.Tech III CSE, AITS Tirupati</cp:lastModifiedBy>
  <cp:revision>1</cp:revision>
  <dcterms:created xsi:type="dcterms:W3CDTF">2026-06-25T02:57:05Z</dcterms:created>
  <dcterms:modified xsi:type="dcterms:W3CDTF">2026-06-25T02:57:05Z</dcterms:modified>
</cp:coreProperties>
</file>